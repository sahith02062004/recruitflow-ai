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188720"/>
            <a:ext cx="2286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RecruitFlow AI</a:t>
            </a:r>
          </a:p>
          <a:p>
            <a:pPr>
              <a:spcBef>
                <a:spcPts val="600"/>
              </a:spcBef>
              <a:defRPr sz="2100">
                <a:solidFill>
                  <a:srgbClr val="93C5FD"/>
                </a:solidFill>
                <a:latin typeface="Arial"/>
              </a:defRPr>
            </a:pPr>
            <a:r>
              <a:t>AI-Assisted Resume Screening, Ranking &amp; Candidate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1300">
                <a:solidFill>
                  <a:srgbClr val="E2E8F0"/>
                </a:solidFill>
              </a:rPr>
              <a:t>Architecture:          </a:t>
            </a:r>
            <a:r>
              <a:rPr sz="1300">
                <a:solidFill>
                  <a:srgbClr val="CBD5E1"/>
                </a:solidFill>
              </a:rPr>
              <a:t>Python 3.12 Flask Application Factory + MySQL 8 + SQLAlchemy 2.0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E2E8F0"/>
                </a:solidFill>
              </a:rPr>
              <a:t>AI / ML Engine:        </a:t>
            </a:r>
            <a:r>
              <a:rPr sz="1300">
                <a:solidFill>
                  <a:srgbClr val="CBD5E1"/>
                </a:solidFill>
              </a:rPr>
              <a:t>100% Deterministic Explainable Scoring (Zero external paid APIs, Zero Hallucinations)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E2E8F0"/>
                </a:solidFill>
              </a:rPr>
              <a:t>Validation &amp; Quality:  </a:t>
            </a:r>
            <a:r>
              <a:rPr sz="1300">
                <a:solidFill>
                  <a:srgbClr val="CBD5E1"/>
                </a:solidFill>
              </a:rPr>
              <a:t>85/85 Automated Pytest Test Suite Passing (100% Pass Rate in ~27s)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E2E8F0"/>
                </a:solidFill>
              </a:rPr>
              <a:t>Complete Phases:       </a:t>
            </a:r>
            <a:r>
              <a:rPr sz="1300">
                <a:solidFill>
                  <a:srgbClr val="CBD5E1"/>
                </a:solidFill>
              </a:rPr>
              <a:t>All 7 Phases Implemented End-to-End (Auth, Jobs, Resumes, Matching, Pipeline, Analytics)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E2E8F0"/>
                </a:solidFill>
              </a:rPr>
              <a:t>Presented by:          </a:t>
            </a:r>
            <a:r>
              <a:rPr sz="1300">
                <a:solidFill>
                  <a:srgbClr val="CBD5E1"/>
                </a:solidFill>
              </a:rPr>
              <a:t>Full Stack &amp; Generative AI Software Engineering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MARKET CHALLENGE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Problem Statement &amp; Product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1. Current ATS Flaws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Industry Challenges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Black-box algorithmic rejection without explaining reasons to candidates.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Naïve keyword matching confuses skills (e.g., 'Java' vs 'JavaScript').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Malicious file upload risks (lack of magic-byte verification).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High costs &amp; non-deterministic drift of external LLM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2. The RecruitFlow AI Vision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The Solution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100% Explainable &amp; Transparent candidate evaluation.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Dual-score separation: ATS readability vs. Job suitability.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Dignified feedback: Evidence-based 'Why Was My Resume Not Shortlisted?'.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Ethical AI: Suggestions never hallucinate unearned skills or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3. Business &amp; Technical Impact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Key Advantages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Zero external API dependency saves cloud budget &amp; guarantees 0ms latency.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Strict tenant isolation keeps corporate client data segregated.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Human-in-the-loop guarantee: AI never rejects or hires autonomously.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OWASP hardened: CSRF protection, magic-byte checks &amp; CSV sanitization.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System Architecture &amp; Engineering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9377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Full-Stack Foundation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Core Technical Stack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Flask Application Factory Pattern with 10 modular Blueprints.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SQLAlchemy 2.0 ORM with MySQL 8 production database.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SQLite in-memory test isolation for sub-30s CI/CD runs.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Alembic / Flask-Migrate schema version control.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Server-side RBAC decorators (@candidate_required, @recruiter_required, @org_membership_required).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Werkzeug scrypt password hashing &amp; single-use SHA-256 reset tokens.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Flask-WTF CSRF protection on 100% of mutation forms.</a:t>
            </a:r>
          </a:p>
        </p:txBody>
      </p:sp>
      <p:pic>
        <p:nvPicPr>
          <p:cNvPr id="7" name="Picture 6" descr="architectu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48640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FEATURE ROADMAP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Complete 7-Phase Milestone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Phases 1 &amp; 2: Core &amp; Auth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Phase 1 &amp; 2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App factory &amp; Blueprints.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RBAC user roles.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Multi-tenant company accounts.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Secure signup, login, password reset.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Phases 3 &amp; 4: Jobs &amp; Ingestion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Phase 3 &amp; 4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Job requisition lifecycle.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Candidate application submission.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Magic-byte inspection (PDF/DOCX).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PyMuPDF + docx text extraction.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Canonical taxonomy: 80+ skills.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Phases 5 &amp; 6: AI &amp; Pipeline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Phase 5 &amp; 6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Deterministic AI scoring.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Dynamic weight redistribution.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Multi-round interview scheduler.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1-5 interviewer rubrics.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Confidential internal feedback.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Kanban hiring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9164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Phase 7: ATS &amp; Analytics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Phase 7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7-Category ATS Quality Scorer.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Dual-score separation.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10-criteria comparison engine.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3-tier prioritized writing checklist.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Why Not Shortlisted diagnostics.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Hiring funnel &amp; CSV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Dual-Score Separation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Separating Readability from Qualification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Dual-Metric Model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Score A: ATS Quality &amp; Readability (0–100)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Evaluates formatting, contact links, action verbs, measurable metrics, and layout health independently of any job.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Score B: Job-Specific Match (0–100)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Evaluates qualification, skills, and experience fit against a target job opening using the Phase 5 engine.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Architectural Benefit: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Prevents penalizing a brilliant candidate for a simple layout issue.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Helps candidates fix their resume formatting before applying to roles.</a:t>
            </a:r>
          </a:p>
        </p:txBody>
      </p:sp>
      <p:pic>
        <p:nvPicPr>
          <p:cNvPr id="7" name="Picture 6" descr="dual_scor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DOCUMENT READABILITY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ATS Resume Quality Analysis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7 Configurable Categories (100% Total)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Weighted Categories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1. Experience Section Structure: 20%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2. Contact &amp; Online Profiles (LinkedIn, GitHub): 15%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3. Education Formatting: 15%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4. Skills Formatting &amp; Canonical Taxonomy: 15%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5. Strong Action Verbs: 15%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6. Measurable Achievements (% / $ metrics): 10%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7. File Readability &amp; Clean Layout: 10%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Diagnostic Warnings: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Automatically flags scanned/image-only PDFs (&lt;50 characters) to prevent unparsed application rejections.</a:t>
            </a:r>
          </a:p>
        </p:txBody>
      </p:sp>
      <p:pic>
        <p:nvPicPr>
          <p:cNvPr id="7" name="Picture 6" descr="ats_categorie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6083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AI MATCHING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Explainable Candidate Matching &amp; Fairness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Core Match Weights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Deterministic Formula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Required Skills: 50%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Preferred Skills: 20%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Experience Alignment: 20%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Education Level: 10%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Strict Total: 100% (1.00) mathematically 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Dynamic Redistribution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Fairness Engine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No penalty for omitted job criteria.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If a job specifies no preferred skills, that 20% is proportionally redistributed across active categories.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Candidates are never penalized for unrequested attributes.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Pure Python deterministic engine — zero LLM hallucination or drift.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Token Boundary Precision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Audit Safeguards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Word boundaries prevent substring confusion: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'Java' != 'JavaScript'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'C' != 'C++' or 'C#'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Evidence Coverage Tracking: If evidence is missing, reports 'Unavailable' instead of 0% or 100%.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SHA-256 Input Hash flags stale scores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PIPELINE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Candidate Dignity &amp; Recruiter Funnel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Dignified Candidate Experience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Candidate Dignity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'Why Was My Resume Not Shortlisted?':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Evidence-based gap diagnosis shows exact missing requirements.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Side-by-side criteria breakdown (Skills, Experience, Degrees).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Honest Disclaimer: 'Decisions reflect the competitive applicant pool for this role.'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Structured Rejection Codes: Qualifications mismatch, experience gap, position filled.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Candidate Privacy: Recruiter internal notes and scoring cards are strictly hidden from candidates.</a:t>
            </a:r>
          </a:p>
        </p:txBody>
      </p:sp>
      <p:pic>
        <p:nvPicPr>
          <p:cNvPr id="7" name="Picture 6" descr="hiring_funn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6083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Automated Verification &amp; 100% Test Pass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Verification Across 10 Modules</a:t>
            </a:r>
          </a:p>
          <a:p>
            <a:pPr>
              <a:spcAft>
                <a:spcPts val="600"/>
              </a:spcAft>
              <a:defRPr sz="1000" b="1">
                <a:solidFill>
                  <a:srgbClr val="0F766E"/>
                </a:solidFill>
              </a:defRPr>
            </a:pPr>
            <a:r>
              <a:t>★ Pytest Metrics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Total Tests: 85 automated tests.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Pass Rate: 100% (85 passed, 0 failed).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Execution Time: 27.31 seconds in Pytest.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Database: SQLite in-memory isolation for fast deterministic test runs.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Hardened Security: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Multi-tenant cross-organization isolation verified.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CSRF protection &amp; password hashing tested.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Malicious disguised file uploads rejected.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• CSV formula injection defense (' prepended).</a:t>
            </a:r>
          </a:p>
        </p:txBody>
      </p:sp>
      <p:pic>
        <p:nvPicPr>
          <p:cNvPr id="7" name="Picture 6" descr="test_suit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LIVE DEMONSTRATION &amp;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to Run RecruitFlow AI Live for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</a:defRPr>
            </a:pPr>
            <a:r>
              <a:t>Quick Launch Commands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1. Open Windows PowerShell: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   cd C:\Users\sahit\.gemini\antigravity\scratch\recruitflow-ai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2. Run automated tests (85 passed in ~27s):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   pytest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3. Start application: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   python run.py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4. Open in browser: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   http://127.0.0.1:5000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5. Health API Check:</a:t>
            </a:r>
          </a:p>
          <a:p>
            <a:pPr>
              <a:spcAft>
                <a:spcPts val="3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   http://127.0.0.1:5000/health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</a:defRPr>
            </a:pPr>
            <a:r>
              <a:t>Key Demonstration Highlights</a:t>
            </a:r>
          </a:p>
          <a:p>
            <a:pPr>
              <a:spcAft>
                <a:spcPts val="500"/>
              </a:spcAft>
              <a:defRPr sz="1100">
                <a:solidFill>
                  <a:srgbClr val="F1F5F9"/>
                </a:solidFill>
              </a:defRPr>
            </a:pPr>
            <a:r>
              <a:t>• Resume Upload &amp; Parsing: Upload a PDF/DOCX resume; observe instant metadata extraction &amp; skills normalization.</a:t>
            </a:r>
          </a:p>
          <a:p>
            <a:pPr>
              <a:spcAft>
                <a:spcPts val="500"/>
              </a:spcAft>
              <a:defRPr sz="1100">
                <a:solidFill>
                  <a:srgbClr val="F1F5F9"/>
                </a:solidFill>
              </a:defRPr>
            </a:pPr>
            <a:r>
              <a:t>• ATS Quality Gauge: View 7-category breakdown and proactive suggestions.</a:t>
            </a:r>
          </a:p>
          <a:p>
            <a:pPr>
              <a:spcAft>
                <a:spcPts val="500"/>
              </a:spcAft>
              <a:defRPr sz="1100">
                <a:solidFill>
                  <a:srgbClr val="F1F5F9"/>
                </a:solidFill>
              </a:defRPr>
            </a:pPr>
            <a:r>
              <a:t>• Side-by-Side Comparison: Compare resume against job description criteria.</a:t>
            </a:r>
          </a:p>
          <a:p>
            <a:pPr>
              <a:spcAft>
                <a:spcPts val="500"/>
              </a:spcAft>
              <a:defRPr sz="1100">
                <a:solidFill>
                  <a:srgbClr val="F1F5F9"/>
                </a:solidFill>
              </a:defRPr>
            </a:pPr>
            <a:r>
              <a:t>• AI Matching &amp; Leaderboard: See match scores calculated deterministically with explainable breakdowns.</a:t>
            </a:r>
          </a:p>
          <a:p>
            <a:pPr>
              <a:spcAft>
                <a:spcPts val="500"/>
              </a:spcAft>
              <a:defRPr sz="1100">
                <a:solidFill>
                  <a:srgbClr val="F1F5F9"/>
                </a:solidFill>
              </a:defRPr>
            </a:pPr>
            <a:r>
              <a:t>• Kanban Pipeline: Move candidate across hiring stages with human-in-the-loop audit logs.</a:t>
            </a:r>
          </a:p>
          <a:p>
            <a:pPr>
              <a:spcAft>
                <a:spcPts val="500"/>
              </a:spcAft>
              <a:defRPr sz="1100">
                <a:solidFill>
                  <a:srgbClr val="F1F5F9"/>
                </a:solidFill>
              </a:defRPr>
            </a:pPr>
            <a:r>
              <a:t>• Recruiter Reports: Inspect Chart.js hiring funnel and export sanitized 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